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4" r:id="rId11"/>
    <p:sldId id="267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104900"/>
            <a:ext cx="32385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6000"/>
              </a:lnSpc>
              <a:buNone/>
              <a:defRPr sz="35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5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对比试验</a:t>
            </a:r>
            <a:endParaRPr sz="35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buNone/>
              <a:defRPr sz="35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5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设备差距说明</a:t>
            </a:r>
            <a:endParaRPr sz="35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27813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933"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CBD8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BD8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Hz 低音量音乐响应分析</a:t>
            </a:r>
            <a:endParaRPr sz="1650" b="1">
              <a:solidFill>
                <a:srgbClr val="CBD8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57912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4405"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技术评审版</a:t>
            </a:r>
            <a:endParaRPr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 l="1492" r="1492"/>
          <a:stretch>
            <a:fillRect/>
          </a:stretch>
        </p:blipFill>
        <p:spPr>
          <a:xfrm>
            <a:off x="4762500" y="895350"/>
            <a:ext cx="3048000" cy="4191000"/>
          </a:xfrm>
          <a:prstGeom prst="roundRect">
            <a:avLst>
              <a:gd name="adj" fmla="val 1875"/>
            </a:avLst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4762500" y="895350"/>
            <a:ext cx="3048000" cy="4191000"/>
          </a:xfrm>
          <a:prstGeom prst="roundRect">
            <a:avLst>
              <a:gd name="adj" fmla="val 1875"/>
            </a:avLst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4857750" y="990600"/>
            <a:ext cx="1952625" cy="247650"/>
          </a:xfrm>
          <a:prstGeom prst="roundRect">
            <a:avLst>
              <a:gd name="adj" fmla="val 23077"/>
            </a:avLst>
          </a:prstGeom>
          <a:solidFill>
            <a:srgbClr val="111827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933950" y="1028700"/>
            <a:ext cx="1809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5804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现场布置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050" y="1764652"/>
            <a:ext cx="3429000" cy="1614196"/>
          </a:xfrm>
          <a:prstGeom prst="roundRect">
            <a:avLst>
              <a:gd name="adj" fmla="val 2308"/>
            </a:avLst>
          </a:prstGeom>
        </p:spPr>
      </p:pic>
      <p:sp>
        <p:nvSpPr>
          <p:cNvPr id="10" name="圆角矩形 9"/>
          <p:cNvSpPr>
            <a:spLocks noGrp="1"/>
          </p:cNvSpPr>
          <p:nvPr/>
        </p:nvSpPr>
        <p:spPr>
          <a:xfrm>
            <a:off x="8020050" y="1333500"/>
            <a:ext cx="3429000" cy="2476500"/>
          </a:xfrm>
          <a:prstGeom prst="roundRect">
            <a:avLst>
              <a:gd name="adj" fmla="val 2308"/>
            </a:avLst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8115300" y="1428750"/>
            <a:ext cx="1952625" cy="247650"/>
          </a:xfrm>
          <a:prstGeom prst="roundRect">
            <a:avLst>
              <a:gd name="adj" fmla="val 23077"/>
            </a:avLst>
          </a:prstGeom>
          <a:solidFill>
            <a:srgbClr val="111827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191500" y="1466850"/>
            <a:ext cx="1809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5804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相位谱热力图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945120" y="4038600"/>
            <a:ext cx="3503930" cy="194500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248650" y="423862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6964"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核心结论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248650" y="4552950"/>
            <a:ext cx="3051810" cy="130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25000"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4000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两设备100 </a:t>
            </a:r>
            <a:r>
              <a:rPr lang="en-US" altLang="zh-CN" sz="4000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Hz</a:t>
            </a:r>
            <a:r>
              <a:rPr lang="zh-CN" altLang="en-US" sz="4000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响应均为20-30 </a:t>
            </a:r>
            <a:r>
              <a:rPr lang="en-US" altLang="zh-CN" sz="4000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dB，</a:t>
            </a:r>
            <a:r>
              <a:rPr lang="zh-CN" altLang="en-US" sz="4000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无明显差距。</a:t>
            </a:r>
            <a:r>
              <a:rPr lang="en-US" altLang="zh-CN" sz="4000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AOM</a:t>
            </a:r>
            <a:r>
              <a:rPr lang="zh-CN" altLang="en-US" sz="4000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载波不同导致脉宽、标距条件不同：自研80 </a:t>
            </a:r>
            <a:r>
              <a:rPr lang="en-US" altLang="zh-CN" sz="4000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MHz、100 ns、10 m；</a:t>
            </a:r>
            <a:r>
              <a:rPr lang="zh-CN" altLang="en-US" sz="4000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光谷互联200 </a:t>
            </a:r>
            <a:r>
              <a:rPr lang="en-US" altLang="zh-CN" sz="4000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MHz、</a:t>
            </a:r>
            <a:r>
              <a:rPr lang="zh-CN" altLang="en-US" sz="4000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设置10 </a:t>
            </a:r>
            <a:r>
              <a:rPr lang="en-US" altLang="zh-CN" sz="4000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ns</a:t>
            </a:r>
            <a:r>
              <a:rPr lang="zh-CN" altLang="en-US" sz="4000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但弱反射光栅反馈表明真实脉宽约25 </a:t>
            </a:r>
            <a:r>
              <a:rPr lang="en-US" altLang="zh-CN" sz="4000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ns，</a:t>
            </a:r>
            <a:r>
              <a:rPr lang="zh-CN" altLang="en-US" sz="4000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对应空间分辨率约2.5 </a:t>
            </a:r>
            <a:r>
              <a:rPr lang="en-US" altLang="zh-CN" sz="4000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m。</a:t>
            </a:r>
            <a:r>
              <a:rPr lang="zh-CN" altLang="en-US" sz="4000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光谷互联参数解耦更灵活，自研需优化高频噪声与参数配置</a:t>
            </a:r>
            <a:r>
              <a:rPr lang="zh-CN" altLang="en-US" sz="127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27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14350" y="6438900"/>
            <a:ext cx="11163300" cy="0"/>
          </a:xfrm>
          <a:prstGeom prst="line">
            <a:avLst/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14350" y="65246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641"/>
          </a:bodyPr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Hz 低音量音乐响应分析</a:t>
            </a:r>
            <a:endParaRPr sz="82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239500" y="64960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128"/>
          </a:bodyPr>
          <a:lstStyle/>
          <a:p>
            <a:pPr algn="r">
              <a:lnSpc>
                <a:spcPct val="112000"/>
              </a:lnSpc>
              <a:buNone/>
              <a:def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75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1524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7234"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B7C6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B7C6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TDAS 对比试验</a:t>
            </a:r>
            <a:endParaRPr sz="975" b="1">
              <a:solidFill>
                <a:srgbClr val="B7C6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3238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4484"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关键前提：两设备 AOM 载波频率不同，导致试验脉宽设置不同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525000" y="2857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9206"/>
          </a:bodyPr>
          <a:lstStyle/>
          <a:p>
            <a:pPr algn="r">
              <a:lnSpc>
                <a:spcPct val="112000"/>
              </a:lnSpc>
              <a:buNone/>
              <a:defRPr sz="900" b="0">
                <a:solidFill>
                  <a:srgbClr val="D7E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D7E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来源：对比试验.docx</a:t>
            </a:r>
            <a:endParaRPr sz="900" b="0">
              <a:solidFill>
                <a:srgbClr val="D7E2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19150" y="1257300"/>
            <a:ext cx="4762500" cy="24003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200150" y="15621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9444"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自研设备</a:t>
            </a:r>
            <a:endParaRPr sz="22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00150" y="2114550"/>
            <a:ext cx="228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4405"/>
          </a:bodyPr>
          <a:lstStyle/>
          <a:p>
            <a:pPr algn="l">
              <a:lnSpc>
                <a:spcPct val="112000"/>
              </a:lnSpc>
              <a:buNone/>
              <a:defRPr sz="40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 MHz</a:t>
            </a:r>
            <a:endParaRPr sz="40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571875" y="23431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2657"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AOM 载波频率</a:t>
            </a:r>
            <a:endParaRPr sz="142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00150" y="291465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2614"/>
          </a:bodyPr>
          <a:lstStyle/>
          <a:p>
            <a:pPr algn="l">
              <a:lnSpc>
                <a:spcPct val="122000"/>
              </a:lnSpc>
              <a:buNone/>
              <a:defRPr sz="18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脉宽：100 ns</a:t>
            </a:r>
            <a:endParaRPr sz="18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8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标距：10 m</a:t>
            </a:r>
            <a:endParaRPr sz="18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610350" y="1257300"/>
            <a:ext cx="4762500" cy="24003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991350" y="15621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9444"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光谷互联设备</a:t>
            </a:r>
            <a:endParaRPr sz="2250" b="1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991350" y="2114550"/>
            <a:ext cx="247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4405"/>
          </a:bodyPr>
          <a:lstStyle/>
          <a:p>
            <a:pPr algn="l">
              <a:lnSpc>
                <a:spcPct val="112000"/>
              </a:lnSpc>
              <a:buNone/>
              <a:defRPr sz="40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 MHz</a:t>
            </a:r>
            <a:endParaRPr sz="40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639300" y="23431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2657"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AOM 载波频率</a:t>
            </a:r>
            <a:endParaRPr sz="142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991350" y="2914650"/>
            <a:ext cx="3714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2614"/>
          </a:bodyPr>
          <a:lstStyle/>
          <a:p>
            <a:pPr algn="l">
              <a:lnSpc>
                <a:spcPct val="122000"/>
              </a:lnSpc>
              <a:buNone/>
              <a:defRPr sz="18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设置脉宽：10 ns（实际 25 ns）</a:t>
            </a:r>
            <a:endParaRPr sz="18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8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标距：0.5 m</a:t>
            </a:r>
            <a:endParaRPr sz="18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619750" y="2400300"/>
            <a:ext cx="952500" cy="0"/>
          </a:xfrm>
          <a:prstGeom prst="line">
            <a:avLst/>
          </a:prstGeom>
          <a:noFill/>
          <a:ln w="9525">
            <a:solidFill>
              <a:srgbClr val="DC262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619750" y="203835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2672"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载波不同</a:t>
            </a:r>
            <a:endParaRPr sz="135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047750" y="4191000"/>
            <a:ext cx="10096500" cy="1295400"/>
          </a:xfrm>
          <a:prstGeom prst="roundRect">
            <a:avLst>
              <a:gd name="adj" fmla="val 5882"/>
            </a:avLst>
          </a:prstGeom>
          <a:solidFill>
            <a:srgbClr val="FFF3E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409700" y="44577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8204"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试验条件解读</a:t>
            </a:r>
            <a:endParaRPr sz="1800" b="1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162300" y="4343400"/>
            <a:ext cx="7524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6462"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本次对比中，两设备 AOM 载波频率不一致，因此脉宽条件不完全相同：自研设备为 100 ns，光谷互联设置 10 ns、实际约 25 ns；同时标距分别为 10 m 与 0.5 m。后续信噪比、分辨率和频谱底噪差异需结合该参数前提理解。</a:t>
            </a:r>
            <a:endParaRPr sz="1500" b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514350" y="6438900"/>
            <a:ext cx="11163300" cy="0"/>
          </a:xfrm>
          <a:prstGeom prst="line">
            <a:avLst/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14350" y="65246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641"/>
          </a:bodyPr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Hz 低音量音乐响应分析</a:t>
            </a:r>
            <a:endParaRPr sz="82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239500" y="64960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128"/>
          </a:bodyPr>
          <a:lstStyle/>
          <a:p>
            <a:pPr algn="r">
              <a:lnSpc>
                <a:spcPct val="112000"/>
              </a:lnSpc>
              <a:buNone/>
              <a:def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1524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7234"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B7C6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B7C6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TDAS 对比试验</a:t>
            </a:r>
            <a:endParaRPr sz="975" b="1">
              <a:solidFill>
                <a:srgbClr val="B7C6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3238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4484"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量化响应：100 Hz 响应均在 20-30 dB，两设备无明显差距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525000" y="2857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9206"/>
          </a:bodyPr>
          <a:lstStyle/>
          <a:p>
            <a:pPr algn="r">
              <a:lnSpc>
                <a:spcPct val="112000"/>
              </a:lnSpc>
              <a:buNone/>
              <a:defRPr sz="900" b="0">
                <a:solidFill>
                  <a:srgbClr val="D7E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D7E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来源：对比试验.docx</a:t>
            </a:r>
            <a:endParaRPr sz="900" b="0">
              <a:solidFill>
                <a:srgbClr val="D7E2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rcRect l="331" r="331"/>
          <a:stretch>
            <a:fillRect/>
          </a:stretch>
        </p:blipFill>
        <p:spPr>
          <a:xfrm>
            <a:off x="685800" y="1181100"/>
            <a:ext cx="3333750" cy="4476750"/>
          </a:xfrm>
          <a:prstGeom prst="roundRect">
            <a:avLst>
              <a:gd name="adj" fmla="val 1714"/>
            </a:avLst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685800" y="1181100"/>
            <a:ext cx="3333750" cy="4476750"/>
          </a:xfrm>
          <a:prstGeom prst="roundRect">
            <a:avLst>
              <a:gd name="adj" fmla="val 1714"/>
            </a:avLst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781050" y="1276350"/>
            <a:ext cx="1952625" cy="247650"/>
          </a:xfrm>
          <a:prstGeom prst="roundRect">
            <a:avLst>
              <a:gd name="adj" fmla="val 23077"/>
            </a:avLst>
          </a:prstGeom>
          <a:solidFill>
            <a:srgbClr val="111827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1314450"/>
            <a:ext cx="1809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5804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测试现场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620" y="1181100"/>
            <a:ext cx="2056710" cy="4476750"/>
          </a:xfrm>
          <a:prstGeom prst="roundRect">
            <a:avLst>
              <a:gd name="adj" fmla="val 2400"/>
            </a:avLst>
          </a:prstGeom>
        </p:spPr>
      </p:pic>
      <p:sp>
        <p:nvSpPr>
          <p:cNvPr id="10" name="圆角矩形 9"/>
          <p:cNvSpPr>
            <a:spLocks noGrp="1"/>
          </p:cNvSpPr>
          <p:nvPr/>
        </p:nvSpPr>
        <p:spPr>
          <a:xfrm>
            <a:off x="4324350" y="1181100"/>
            <a:ext cx="2381250" cy="4476750"/>
          </a:xfrm>
          <a:prstGeom prst="roundRect">
            <a:avLst>
              <a:gd name="adj" fmla="val 2400"/>
            </a:avLst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4419600" y="1276350"/>
            <a:ext cx="1952625" cy="247650"/>
          </a:xfrm>
          <a:prstGeom prst="roundRect">
            <a:avLst>
              <a:gd name="adj" fmla="val 23077"/>
            </a:avLst>
          </a:prstGeom>
          <a:solidFill>
            <a:srgbClr val="111827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495800" y="1314450"/>
            <a:ext cx="1809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5804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Hz 截图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67550" y="1181100"/>
            <a:ext cx="4343400" cy="447675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410450" y="14668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4405"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量化指标</a:t>
            </a:r>
            <a:endParaRPr sz="19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410450" y="1943100"/>
            <a:ext cx="1619250" cy="838200"/>
          </a:xfrm>
          <a:prstGeom prst="roundRect">
            <a:avLst>
              <a:gd name="adj" fmla="val 9091"/>
            </a:avLst>
          </a:prstGeom>
          <a:solidFill>
            <a:srgbClr val="EAF2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600950" y="2114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6138"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自研设备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600950" y="24003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9524"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20-30 dB</a:t>
            </a:r>
            <a:endParaRPr sz="1875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9258300" y="1943100"/>
            <a:ext cx="1619250" cy="838200"/>
          </a:xfrm>
          <a:prstGeom prst="roundRect">
            <a:avLst>
              <a:gd name="adj" fmla="val 9091"/>
            </a:avLst>
          </a:prstGeom>
          <a:solidFill>
            <a:srgbClr val="FFF3E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448800" y="2114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6138"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光谷互联</a:t>
            </a:r>
            <a:endParaRPr sz="1350" b="1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448800" y="24003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9524"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20-30 dB</a:t>
            </a:r>
            <a:endParaRPr sz="1875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410450" y="2990850"/>
            <a:ext cx="3467100" cy="514350"/>
          </a:xfrm>
          <a:prstGeom prst="roundRect">
            <a:avLst>
              <a:gd name="adj" fmla="val 14815"/>
            </a:avLst>
          </a:prstGeom>
          <a:solidFill>
            <a:srgbClr val="E9F8F5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600950" y="3143250"/>
            <a:ext cx="308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2657"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结论：该 100 Hz 激励下，两设备响应幅度无明显差距。</a:t>
            </a:r>
            <a:endParaRPr sz="1425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10450" y="3810000"/>
            <a:ext cx="3524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>
            <a:normAutofit fontScale="77324"/>
          </a:bodyPr>
          <a:lstStyle/>
          <a:p>
            <a:pPr marL="0" indent="0">
              <a:lnSpc>
                <a:spcPct val="118000"/>
              </a:lnSpc>
              <a:spcAft>
                <a:spcPts val="10"/>
              </a:spcAft>
              <a:buNone/>
              <a:defRPr sz="12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激励方式：</a:t>
            </a:r>
            <a:r>
              <a:rPr sz="1275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将音响置于光纤之上，播放 100 Hz、低音量音乐。</a:t>
            </a:r>
            <a:endParaRPr sz="1275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18000"/>
              </a:lnSpc>
              <a:spcAft>
                <a:spcPts val="10"/>
              </a:spcAft>
              <a:buNone/>
              <a:defRPr sz="12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分析对象：</a:t>
            </a:r>
            <a:r>
              <a:rPr sz="1275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对两套设备的响应、热力图、频谱表现进行对比。</a:t>
            </a:r>
            <a:endParaRPr sz="1275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18000"/>
              </a:lnSpc>
              <a:spcAft>
                <a:spcPts val="10"/>
              </a:spcAft>
              <a:buNone/>
              <a:defRPr sz="12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证据来源：</a:t>
            </a:r>
            <a:r>
              <a:rPr sz="1275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 PPT 所有图片均来自对比试验.docx 原始插图。</a:t>
            </a:r>
            <a:endParaRPr sz="1275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7410450" y="5010150"/>
            <a:ext cx="3524250" cy="781050"/>
          </a:xfrm>
          <a:prstGeom prst="roundRect">
            <a:avLst>
              <a:gd name="adj" fmla="val 9756"/>
            </a:avLst>
          </a:prstGeom>
          <a:solidFill>
            <a:srgbClr val="FFF3E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639050" y="52006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9524"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读取口径</a:t>
            </a:r>
            <a:endParaRPr sz="1500" b="1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639050" y="5467350"/>
            <a:ext cx="2971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4405"/>
          </a:bodyPr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响应指标用于说明 100 Hz 响应幅度层面的对比结论。</a:t>
            </a:r>
            <a:endParaRPr sz="1050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514350" y="6438900"/>
            <a:ext cx="11163300" cy="0"/>
          </a:xfrm>
          <a:prstGeom prst="line">
            <a:avLst/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14350" y="65246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641"/>
          </a:bodyPr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Hz 低音量音乐响应分析</a:t>
            </a:r>
            <a:endParaRPr sz="82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239500" y="64960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128"/>
          </a:bodyPr>
          <a:lstStyle/>
          <a:p>
            <a:pPr algn="r">
              <a:lnSpc>
                <a:spcPct val="112000"/>
              </a:lnSpc>
              <a:buNone/>
              <a:def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1524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7234"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B7C6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B7C6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TDAS 对比试验</a:t>
            </a:r>
            <a:endParaRPr sz="975" b="1">
              <a:solidFill>
                <a:srgbClr val="B7C6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3238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4484"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响应一致，但显示策略不同：全点位 vs 抽样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525000" y="2857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9206"/>
          </a:bodyPr>
          <a:lstStyle/>
          <a:p>
            <a:pPr algn="r">
              <a:lnSpc>
                <a:spcPct val="112000"/>
              </a:lnSpc>
              <a:buNone/>
              <a:defRPr sz="900" b="0">
                <a:solidFill>
                  <a:srgbClr val="D7E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D7E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来源：对比试验.docx</a:t>
            </a:r>
            <a:endParaRPr sz="900" b="0">
              <a:solidFill>
                <a:srgbClr val="D7E2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324105"/>
            <a:ext cx="5381625" cy="2533391"/>
          </a:xfrm>
          <a:prstGeom prst="roundRect">
            <a:avLst>
              <a:gd name="adj" fmla="val 2055"/>
            </a:avLst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609600" y="1200150"/>
            <a:ext cx="5381625" cy="2781300"/>
          </a:xfrm>
          <a:prstGeom prst="roundRect">
            <a:avLst>
              <a:gd name="adj" fmla="val 2055"/>
            </a:avLst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704850" y="1295400"/>
            <a:ext cx="1952625" cy="247650"/>
          </a:xfrm>
          <a:prstGeom prst="roundRect">
            <a:avLst>
              <a:gd name="adj" fmla="val 23077"/>
            </a:avLst>
          </a:prstGeom>
          <a:solidFill>
            <a:srgbClr val="111827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1333500"/>
            <a:ext cx="1809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5804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自研设备：相位谱热力图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775" y="1352468"/>
            <a:ext cx="5381625" cy="2476665"/>
          </a:xfrm>
          <a:prstGeom prst="roundRect">
            <a:avLst>
              <a:gd name="adj" fmla="val 2055"/>
            </a:avLst>
          </a:prstGeom>
        </p:spPr>
      </p:pic>
      <p:sp>
        <p:nvSpPr>
          <p:cNvPr id="10" name="圆角矩形 9"/>
          <p:cNvSpPr>
            <a:spLocks noGrp="1"/>
          </p:cNvSpPr>
          <p:nvPr/>
        </p:nvSpPr>
        <p:spPr>
          <a:xfrm>
            <a:off x="6200775" y="1200150"/>
            <a:ext cx="5381625" cy="2781300"/>
          </a:xfrm>
          <a:prstGeom prst="roundRect">
            <a:avLst>
              <a:gd name="adj" fmla="val 2055"/>
            </a:avLst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6296025" y="1295400"/>
            <a:ext cx="1952625" cy="247650"/>
          </a:xfrm>
          <a:prstGeom prst="roundRect">
            <a:avLst>
              <a:gd name="adj" fmla="val 23077"/>
            </a:avLst>
          </a:prstGeom>
          <a:solidFill>
            <a:srgbClr val="111827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372225" y="1333500"/>
            <a:ext cx="1809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5804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光谷互联：热力图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914400" y="4400550"/>
            <a:ext cx="3143250" cy="1219200"/>
          </a:xfrm>
          <a:prstGeom prst="roundRect">
            <a:avLst>
              <a:gd name="adj" fmla="val 6250"/>
            </a:avLst>
          </a:prstGeom>
          <a:solidFill>
            <a:srgbClr val="E9F8F5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4400550"/>
            <a:ext cx="57150" cy="12192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04900" y="45529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0862"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共同点</a:t>
            </a:r>
            <a:endParaRPr sz="1575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04900" y="4914900"/>
            <a:ext cx="2781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2006"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 100 Hz 信号响应两设备一致，说明在该激励条件下两套设备均能捕捉到目标响应。</a:t>
            </a:r>
            <a:endParaRPr sz="127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524375" y="4400550"/>
            <a:ext cx="3143250" cy="1219200"/>
          </a:xfrm>
          <a:prstGeom prst="roundRect">
            <a:avLst>
              <a:gd name="adj" fmla="val 6250"/>
            </a:avLst>
          </a:prstGeom>
          <a:solidFill>
            <a:srgbClr val="EAF2FF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524375" y="4400550"/>
            <a:ext cx="57150" cy="1219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714875" y="45529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0862"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自研设备</a:t>
            </a:r>
            <a:endParaRPr sz="15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714875" y="4914900"/>
            <a:ext cx="2781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1485"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采用全部点位显示，空间点位信息保留更完整；噪声和非目标点位也会直接呈现</a:t>
            </a:r>
            <a:endParaRPr sz="127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134350" y="4400550"/>
            <a:ext cx="3143250" cy="1219200"/>
          </a:xfrm>
          <a:prstGeom prst="roundRect">
            <a:avLst>
              <a:gd name="adj" fmla="val 6250"/>
            </a:avLst>
          </a:prstGeom>
          <a:solidFill>
            <a:srgbClr val="FFF3E6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134350" y="4400550"/>
            <a:ext cx="57150" cy="1219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324850" y="45529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0862"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光谷互联设备</a:t>
            </a:r>
            <a:endParaRPr sz="1575" b="1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324850" y="4914900"/>
            <a:ext cx="2781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2368"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采用抽样显示，界面呈现更轻量，适合快速查看趋势，但完整点位细节不如全量显示直观。</a:t>
            </a:r>
            <a:endParaRPr sz="127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514350" y="6438900"/>
            <a:ext cx="11163300" cy="0"/>
          </a:xfrm>
          <a:prstGeom prst="line">
            <a:avLst/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14350" y="65246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641"/>
          </a:bodyPr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Hz 低音量音乐响应分析</a:t>
            </a:r>
            <a:endParaRPr sz="82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239500" y="64960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128"/>
          </a:bodyPr>
          <a:lstStyle/>
          <a:p>
            <a:pPr algn="r">
              <a:lnSpc>
                <a:spcPct val="112000"/>
              </a:lnSpc>
              <a:buNone/>
              <a:def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75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1524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7234"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B7C6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B7C6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TDAS 对比试验</a:t>
            </a:r>
            <a:endParaRPr sz="975" b="1">
              <a:solidFill>
                <a:srgbClr val="B7C6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3238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4484"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低频处理差异：光谷互联加入低频滤波以抑制相位噪声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525000" y="2857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9206"/>
          </a:bodyPr>
          <a:lstStyle/>
          <a:p>
            <a:pPr algn="r">
              <a:lnSpc>
                <a:spcPct val="112000"/>
              </a:lnSpc>
              <a:buNone/>
              <a:defRPr sz="900" b="0">
                <a:solidFill>
                  <a:srgbClr val="D7E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D7E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来源：对比试验.docx</a:t>
            </a:r>
            <a:endParaRPr sz="900" b="0">
              <a:solidFill>
                <a:srgbClr val="D7E2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60779"/>
            <a:ext cx="5143500" cy="3860192"/>
          </a:xfrm>
          <a:prstGeom prst="roundRect">
            <a:avLst>
              <a:gd name="adj" fmla="val 1478"/>
            </a:avLst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685800" y="1257300"/>
            <a:ext cx="5143500" cy="3867150"/>
          </a:xfrm>
          <a:prstGeom prst="roundRect">
            <a:avLst>
              <a:gd name="adj" fmla="val 1478"/>
            </a:avLst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781050" y="1352550"/>
            <a:ext cx="1952625" cy="247650"/>
          </a:xfrm>
          <a:prstGeom prst="roundRect">
            <a:avLst>
              <a:gd name="adj" fmla="val 23077"/>
            </a:avLst>
          </a:prstGeom>
          <a:solidFill>
            <a:srgbClr val="111827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1390650"/>
            <a:ext cx="1809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5804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自研设备频谱/响应图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700" y="1260779"/>
            <a:ext cx="5143500" cy="3860192"/>
          </a:xfrm>
          <a:prstGeom prst="roundRect">
            <a:avLst>
              <a:gd name="adj" fmla="val 1478"/>
            </a:avLst>
          </a:prstGeom>
        </p:spPr>
      </p:pic>
      <p:sp>
        <p:nvSpPr>
          <p:cNvPr id="10" name="圆角矩形 9"/>
          <p:cNvSpPr>
            <a:spLocks noGrp="1"/>
          </p:cNvSpPr>
          <p:nvPr/>
        </p:nvSpPr>
        <p:spPr>
          <a:xfrm>
            <a:off x="6362700" y="1257300"/>
            <a:ext cx="5143500" cy="3867150"/>
          </a:xfrm>
          <a:prstGeom prst="roundRect">
            <a:avLst>
              <a:gd name="adj" fmla="val 1478"/>
            </a:avLst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6457950" y="1352550"/>
            <a:ext cx="1952625" cy="247650"/>
          </a:xfrm>
          <a:prstGeom prst="roundRect">
            <a:avLst>
              <a:gd name="adj" fmla="val 23077"/>
            </a:avLst>
          </a:prstGeom>
          <a:solidFill>
            <a:srgbClr val="111827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534150" y="1390650"/>
            <a:ext cx="1809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5804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光谷互联频谱/响应图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1276350" y="3857625"/>
            <a:ext cx="95250" cy="95250"/>
          </a:xfrm>
          <a:prstGeom prst="ellipse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1323975" y="3486150"/>
            <a:ext cx="171450" cy="419100"/>
          </a:xfrm>
          <a:prstGeom prst="line">
            <a:avLst/>
          </a:prstGeom>
          <a:noFill/>
          <a:ln w="9525">
            <a:solidFill>
              <a:srgbClr val="DC2626"/>
            </a:solidFill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1495425" y="2815590"/>
            <a:ext cx="2338070" cy="880110"/>
          </a:xfrm>
          <a:prstGeom prst="roundRect">
            <a:avLst>
              <a:gd name="adj" fmla="val 20000"/>
            </a:avLst>
          </a:prstGeom>
          <a:solidFill>
            <a:srgbClr val="FFFFFF">
              <a:alpha val="90196"/>
            </a:srgbClr>
          </a:solidFill>
          <a:ln w="9525">
            <a:solidFill>
              <a:srgbClr val="DC2626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485900" y="2924810"/>
            <a:ext cx="2315210" cy="626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25000"/>
          </a:bodyPr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Hz</a:t>
            </a:r>
            <a:endParaRPr sz="64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buNone/>
              <a:def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(0.1 kHz, 约 -42 dB</a:t>
            </a:r>
            <a:r>
              <a:rPr sz="64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sz="64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3324225" y="4314825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3371850" y="3962400"/>
            <a:ext cx="171450" cy="400050"/>
          </a:xfrm>
          <a:prstGeom prst="line">
            <a:avLst/>
          </a:prstGeom>
          <a:noFill/>
          <a:ln w="9525">
            <a:solidFill>
              <a:srgbClr val="2563EB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3543300" y="3618865"/>
            <a:ext cx="2033905" cy="553085"/>
          </a:xfrm>
          <a:prstGeom prst="roundRect">
            <a:avLst>
              <a:gd name="adj" fmla="val 20000"/>
            </a:avLst>
          </a:prstGeom>
          <a:solidFill>
            <a:srgbClr val="FFFFFF">
              <a:alpha val="90196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8120" y="3600450"/>
            <a:ext cx="1219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25000"/>
          </a:bodyPr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kHz 底</a:t>
            </a:r>
            <a:r>
              <a:rPr sz="6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噪</a:t>
            </a:r>
            <a:endParaRPr sz="64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buNone/>
              <a:def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-70 dB</a:t>
            </a:r>
            <a:endParaRPr sz="64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6953250" y="3810000"/>
            <a:ext cx="95250" cy="95250"/>
          </a:xfrm>
          <a:prstGeom prst="ellipse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7000875" y="3438525"/>
            <a:ext cx="171450" cy="419100"/>
          </a:xfrm>
          <a:prstGeom prst="line">
            <a:avLst/>
          </a:prstGeom>
          <a:noFill/>
          <a:ln w="9525">
            <a:solidFill>
              <a:srgbClr val="DC2626"/>
            </a:solidFill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7172325" y="2931795"/>
            <a:ext cx="1848485" cy="716280"/>
          </a:xfrm>
          <a:prstGeom prst="roundRect">
            <a:avLst>
              <a:gd name="adj" fmla="val 20000"/>
            </a:avLst>
          </a:prstGeom>
          <a:solidFill>
            <a:srgbClr val="FFFFFF">
              <a:alpha val="90196"/>
            </a:srgbClr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031990" y="2996565"/>
            <a:ext cx="2177415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Hz</a:t>
            </a:r>
            <a:endParaRPr sz="15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buNone/>
              <a:def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(0.1 kHz, 约 -50 dB)</a:t>
            </a:r>
            <a:endParaRPr sz="15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9001125" y="4067175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 flipH="1" flipV="1">
            <a:off x="9048750" y="4114800"/>
            <a:ext cx="417195" cy="56515"/>
          </a:xfrm>
          <a:prstGeom prst="line">
            <a:avLst/>
          </a:prstGeom>
          <a:noFill/>
          <a:ln w="9525">
            <a:solidFill>
              <a:srgbClr val="2563EB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9317355" y="3590925"/>
            <a:ext cx="1656080" cy="523875"/>
          </a:xfrm>
          <a:prstGeom prst="roundRect">
            <a:avLst>
              <a:gd name="adj" fmla="val 20000"/>
            </a:avLst>
          </a:prstGeom>
          <a:solidFill>
            <a:srgbClr val="FFFFFF">
              <a:alpha val="90196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552305" y="3550920"/>
            <a:ext cx="1219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kHz 底噪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buNone/>
              <a:def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-65 dB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1485900" y="5314950"/>
            <a:ext cx="92202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762125" y="5467350"/>
            <a:ext cx="866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7076"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说明：100 Hz 信号峰值可在 FFT 频谱中定位；1 kHz 处底噪显示，自研设备底噪近水平线，光谷互联底噪呈抛物线趋势。</a:t>
            </a:r>
            <a:endParaRPr sz="1425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514350" y="6438900"/>
            <a:ext cx="11163300" cy="0"/>
          </a:xfrm>
          <a:prstGeom prst="line">
            <a:avLst/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14350" y="65246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641"/>
          </a:bodyPr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Hz 低音量音乐响应分析</a:t>
            </a:r>
            <a:endParaRPr sz="82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239500" y="64960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128"/>
          </a:bodyPr>
          <a:lstStyle/>
          <a:p>
            <a:pPr algn="r">
              <a:lnSpc>
                <a:spcPct val="112000"/>
              </a:lnSpc>
              <a:buNone/>
              <a:def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75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1524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7234"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B7C6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B7C6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TDAS 对比试验</a:t>
            </a:r>
            <a:endParaRPr sz="975" b="1">
              <a:solidFill>
                <a:srgbClr val="B7C6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3238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4484"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高频噪声差异：光谷互联没有高频特征噪声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525000" y="2857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9206"/>
          </a:bodyPr>
          <a:lstStyle/>
          <a:p>
            <a:pPr algn="r">
              <a:lnSpc>
                <a:spcPct val="112000"/>
              </a:lnSpc>
              <a:buNone/>
              <a:defRPr sz="900" b="0">
                <a:solidFill>
                  <a:srgbClr val="D7E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D7E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来源：对比试验.docx</a:t>
            </a:r>
            <a:endParaRPr sz="900" b="0">
              <a:solidFill>
                <a:srgbClr val="D7E2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372" y="1219200"/>
            <a:ext cx="4945856" cy="2952750"/>
          </a:xfrm>
          <a:prstGeom prst="roundRect">
            <a:avLst>
              <a:gd name="adj" fmla="val 1935"/>
            </a:avLst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685800" y="1219200"/>
            <a:ext cx="4953000" cy="2952750"/>
          </a:xfrm>
          <a:prstGeom prst="roundRect">
            <a:avLst>
              <a:gd name="adj" fmla="val 1935"/>
            </a:avLst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857250" y="803910"/>
            <a:ext cx="2306320" cy="391160"/>
          </a:xfrm>
          <a:prstGeom prst="roundRect">
            <a:avLst>
              <a:gd name="adj" fmla="val 23077"/>
            </a:avLst>
          </a:prstGeom>
          <a:solidFill>
            <a:srgbClr val="111827">
              <a:alpha val="80000"/>
            </a:srgbClr>
          </a:solidFill>
          <a:ln w="0">
            <a:noFill/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1352550"/>
            <a:ext cx="1809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5804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自研设备频谱图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476" y="1219200"/>
            <a:ext cx="4930449" cy="2952750"/>
          </a:xfrm>
          <a:prstGeom prst="roundRect">
            <a:avLst>
              <a:gd name="adj" fmla="val 1935"/>
            </a:avLst>
          </a:prstGeom>
        </p:spPr>
      </p:pic>
      <p:sp>
        <p:nvSpPr>
          <p:cNvPr id="10" name="圆角矩形 9"/>
          <p:cNvSpPr>
            <a:spLocks noGrp="1"/>
          </p:cNvSpPr>
          <p:nvPr/>
        </p:nvSpPr>
        <p:spPr>
          <a:xfrm>
            <a:off x="6553200" y="1219200"/>
            <a:ext cx="4953000" cy="2952750"/>
          </a:xfrm>
          <a:prstGeom prst="roundRect">
            <a:avLst>
              <a:gd name="adj" fmla="val 1935"/>
            </a:avLst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6528435" y="803275"/>
            <a:ext cx="2249170" cy="373380"/>
          </a:xfrm>
          <a:prstGeom prst="roundRect">
            <a:avLst>
              <a:gd name="adj" fmla="val 23077"/>
            </a:avLst>
          </a:prstGeom>
          <a:solidFill>
            <a:srgbClr val="111827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600190" y="852170"/>
            <a:ext cx="1809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25000"/>
          </a:bodyPr>
          <a:lstStyle/>
          <a:p>
            <a:pPr algn="l">
              <a:lnSpc>
                <a:spcPct val="112000"/>
              </a:lnSpc>
              <a:buClrTx/>
              <a:buSzTx/>
              <a:buFontTx/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光谷互联频谱图</a:t>
            </a:r>
            <a:endParaRPr sz="6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953000" y="3905250"/>
            <a:ext cx="1619250" cy="285750"/>
          </a:xfrm>
          <a:prstGeom prst="roundRect">
            <a:avLst>
              <a:gd name="adj" fmla="val 20000"/>
            </a:avLst>
          </a:prstGeom>
          <a:solidFill>
            <a:srgbClr val="FFFFFF">
              <a:alpha val="90196"/>
            </a:srgbClr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029200" y="3952875"/>
            <a:ext cx="1466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6806"/>
          </a:bodyPr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颜色条区间：-46 ~ -69</a:t>
            </a:r>
            <a:endParaRPr sz="9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0429875" y="3905250"/>
            <a:ext cx="1619250" cy="285750"/>
          </a:xfrm>
          <a:prstGeom prst="roundRect">
            <a:avLst>
              <a:gd name="adj" fmla="val 20000"/>
            </a:avLst>
          </a:prstGeom>
          <a:solidFill>
            <a:srgbClr val="FFFFFF">
              <a:alpha val="90196"/>
            </a:srgbClr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506075" y="3952875"/>
            <a:ext cx="1466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6806"/>
          </a:bodyPr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颜色条区间：-46 ~ -69</a:t>
            </a:r>
            <a:endParaRPr sz="9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19150" y="4591050"/>
            <a:ext cx="105537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23950" y="48387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8204"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观察结论</a:t>
            </a:r>
            <a:endParaRPr sz="18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571750" y="4791075"/>
            <a:ext cx="809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0916"/>
          </a:bodyPr>
          <a:lstStyle/>
          <a:p>
            <a:pPr algn="l">
              <a:lnSpc>
                <a:spcPct val="114000"/>
              </a:lnSpc>
              <a:buNone/>
              <a:defRPr sz="1500" b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颜色条位于 -46 ~ -69 区间。文档结论明确指出：光谷互联设备没有高频特征噪声；自研设备需进一步定位高频特征噪声来源，并区分硬件、解调算法、滤波链路与显示阈值带来的影响。</a:t>
            </a:r>
            <a:endParaRPr sz="1500" b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514350" y="6438900"/>
            <a:ext cx="11163300" cy="0"/>
          </a:xfrm>
          <a:prstGeom prst="line">
            <a:avLst/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14350" y="65246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641"/>
          </a:bodyPr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Hz 低音量音乐响应分析</a:t>
            </a:r>
            <a:endParaRPr sz="82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239500" y="64960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128"/>
          </a:bodyPr>
          <a:lstStyle/>
          <a:p>
            <a:pPr algn="r">
              <a:lnSpc>
                <a:spcPct val="112000"/>
              </a:lnSpc>
              <a:buNone/>
              <a:def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75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881380"/>
            <a:ext cx="1809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自研设备频谱图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1524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7234"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B7C6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B7C6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TDAS 对比试验</a:t>
            </a:r>
            <a:endParaRPr sz="975" b="1">
              <a:solidFill>
                <a:srgbClr val="B7C6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3238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4484"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权衡关系：空间分辨率提升会牺牲高频信噪比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525000" y="2857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9206"/>
          </a:bodyPr>
          <a:lstStyle/>
          <a:p>
            <a:pPr algn="r">
              <a:lnSpc>
                <a:spcPct val="112000"/>
              </a:lnSpc>
              <a:buNone/>
              <a:defRPr sz="900" b="0">
                <a:solidFill>
                  <a:srgbClr val="D7E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D7E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来源：对比试验.docx</a:t>
            </a:r>
            <a:endParaRPr sz="900" b="0">
              <a:solidFill>
                <a:srgbClr val="D7E2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181910"/>
            <a:ext cx="5191125" cy="3189254"/>
          </a:xfrm>
          <a:prstGeom prst="roundRect">
            <a:avLst>
              <a:gd name="adj" fmla="val 1791"/>
            </a:avLst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666750" y="1181100"/>
            <a:ext cx="5191125" cy="3190875"/>
          </a:xfrm>
          <a:prstGeom prst="roundRect">
            <a:avLst>
              <a:gd name="adj" fmla="val 1791"/>
            </a:avLst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833120" y="779145"/>
            <a:ext cx="3736340" cy="377190"/>
          </a:xfrm>
          <a:prstGeom prst="roundRect">
            <a:avLst>
              <a:gd name="adj" fmla="val 23077"/>
            </a:avLst>
          </a:prstGeom>
          <a:solidFill>
            <a:srgbClr val="111827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04875" y="845185"/>
            <a:ext cx="3580130" cy="297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自研设备：抬高阈值后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831" y="1181100"/>
            <a:ext cx="5169712" cy="3190875"/>
          </a:xfrm>
          <a:prstGeom prst="roundRect">
            <a:avLst>
              <a:gd name="adj" fmla="val 1791"/>
            </a:avLst>
          </a:prstGeom>
        </p:spPr>
      </p:pic>
      <p:sp>
        <p:nvSpPr>
          <p:cNvPr id="10" name="圆角矩形 9"/>
          <p:cNvSpPr>
            <a:spLocks noGrp="1"/>
          </p:cNvSpPr>
          <p:nvPr/>
        </p:nvSpPr>
        <p:spPr>
          <a:xfrm>
            <a:off x="6334125" y="1181100"/>
            <a:ext cx="5191125" cy="3190875"/>
          </a:xfrm>
          <a:prstGeom prst="roundRect">
            <a:avLst>
              <a:gd name="adj" fmla="val 1791"/>
            </a:avLst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6384290" y="827405"/>
            <a:ext cx="2899410" cy="353695"/>
          </a:xfrm>
          <a:prstGeom prst="roundRect">
            <a:avLst>
              <a:gd name="adj" fmla="val 23077"/>
            </a:avLst>
          </a:prstGeom>
          <a:solidFill>
            <a:srgbClr val="111827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570345" y="836295"/>
            <a:ext cx="2954655" cy="2343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光谷互联：抬高阈值后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000625" y="4095750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FFFFFF">
              <a:alpha val="90196"/>
            </a:srgbClr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076825" y="4143375"/>
            <a:ext cx="1371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6806"/>
          </a:bodyPr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颜色条区间：-42 ~ 57</a:t>
            </a:r>
            <a:endParaRPr sz="9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0429875" y="4095750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FFFFFF">
              <a:alpha val="90196"/>
            </a:srgbClr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506075" y="4143375"/>
            <a:ext cx="1371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6806"/>
          </a:bodyPr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颜色条区间：-42 ~ 57</a:t>
            </a:r>
            <a:endParaRPr sz="9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62635" y="4791710"/>
            <a:ext cx="10380980" cy="149733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28370" y="4848225"/>
            <a:ext cx="10237470" cy="6597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颜色条位于 -42 ~ 57 区间。文档判断：自研设备在 100 Hz 以上的高频信噪比优于光谷互联设备；光谷互联设置用于增加空间分辨率，因此降低了信噪比。</a:t>
            </a:r>
            <a:endParaRPr sz="1575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575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75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575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575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514350" y="6438900"/>
            <a:ext cx="11163300" cy="0"/>
          </a:xfrm>
          <a:prstGeom prst="line">
            <a:avLst/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14350" y="65246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641"/>
          </a:bodyPr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Hz 低音量音乐响应分析</a:t>
            </a:r>
            <a:endParaRPr sz="82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239500" y="64960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128"/>
          </a:bodyPr>
          <a:lstStyle/>
          <a:p>
            <a:pPr algn="r">
              <a:lnSpc>
                <a:spcPct val="112000"/>
              </a:lnSpc>
              <a:buNone/>
              <a:def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75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05510" y="5732780"/>
            <a:ext cx="10238105" cy="3790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75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自研设备在空间上存在高频的噪声响应信号</a:t>
            </a:r>
            <a:endParaRPr sz="1575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575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575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1524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7234"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B7C6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B7C6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TDAS 对比试验</a:t>
            </a:r>
            <a:endParaRPr sz="975" b="1">
              <a:solidFill>
                <a:srgbClr val="B7C6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3238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4484"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工程适应性差异：光谷互联三参数解耦，自研设备需改进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525000" y="2857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9206"/>
          </a:bodyPr>
          <a:lstStyle/>
          <a:p>
            <a:pPr algn="r">
              <a:lnSpc>
                <a:spcPct val="112000"/>
              </a:lnSpc>
              <a:buNone/>
              <a:defRPr sz="900" b="0">
                <a:solidFill>
                  <a:srgbClr val="D7E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D7E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来源：对比试验.docx</a:t>
            </a:r>
            <a:endParaRPr sz="900" b="0">
              <a:solidFill>
                <a:srgbClr val="D7E2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1028700" y="1466850"/>
            <a:ext cx="2857500" cy="1695450"/>
          </a:xfrm>
          <a:prstGeom prst="roundRect">
            <a:avLst>
              <a:gd name="adj" fmla="val 4494"/>
            </a:avLst>
          </a:prstGeom>
          <a:solidFill>
            <a:srgbClr val="EAF2FF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466850"/>
            <a:ext cx="57150" cy="16954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19200" y="16192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0862"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标距</a:t>
            </a:r>
            <a:endParaRPr sz="15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19200" y="1981200"/>
            <a:ext cx="24955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光谷互联可独立调节；自研设备与其他参数自动绑定。</a:t>
            </a:r>
            <a:endParaRPr sz="127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667250" y="1466850"/>
            <a:ext cx="2857500" cy="1695450"/>
          </a:xfrm>
          <a:prstGeom prst="roundRect">
            <a:avLst>
              <a:gd name="adj" fmla="val 4494"/>
            </a:avLst>
          </a:prstGeom>
          <a:solidFill>
            <a:srgbClr val="FFF3E6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667250" y="1466850"/>
            <a:ext cx="57150" cy="16954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857750" y="16192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0862"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脉宽</a:t>
            </a:r>
            <a:endParaRPr sz="1575" b="1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857750" y="1981200"/>
            <a:ext cx="24955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光谷互联可按分辨率与信噪比目标单独配置。</a:t>
            </a:r>
            <a:endParaRPr sz="127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305800" y="1466850"/>
            <a:ext cx="2857500" cy="1695450"/>
          </a:xfrm>
          <a:prstGeom prst="roundRect">
            <a:avLst>
              <a:gd name="adj" fmla="val 4494"/>
            </a:avLst>
          </a:prstGeom>
          <a:solidFill>
            <a:srgbClr val="E9F8F5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05800" y="1466850"/>
            <a:ext cx="57150" cy="16954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496300" y="16192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0862"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点位间隔</a:t>
            </a:r>
            <a:endParaRPr sz="1575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496300" y="1981200"/>
            <a:ext cx="24955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光谷互联与标距、脉宽解绑，工程适配性更强。</a:t>
            </a:r>
            <a:endParaRPr sz="127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428750" y="4095750"/>
            <a:ext cx="9334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790700" y="436245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8681"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关键差距</a:t>
            </a:r>
            <a:endParaRPr sz="19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238500" y="4229735"/>
            <a:ext cx="704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75914"/>
          </a:bodyPr>
          <a:lstStyle/>
          <a:p>
            <a:pPr algn="l">
              <a:lnSpc>
                <a:spcPct val="115000"/>
              </a:lnSpc>
              <a:buNone/>
              <a:defRPr sz="157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光谷互联设备将标距、脉宽、点位间隔设计为解绑的三个参数，使工程上可按场景调节；自研设备目前三个参数自动为一个值，需要改进。</a:t>
            </a:r>
            <a:endParaRPr sz="157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514350" y="6438900"/>
            <a:ext cx="11163300" cy="0"/>
          </a:xfrm>
          <a:prstGeom prst="line">
            <a:avLst/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14350" y="65246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641"/>
          </a:bodyPr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Hz 低音量音乐响应分析</a:t>
            </a:r>
            <a:endParaRPr sz="82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239500" y="64960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128"/>
          </a:bodyPr>
          <a:lstStyle/>
          <a:p>
            <a:pPr algn="r">
              <a:lnSpc>
                <a:spcPct val="112000"/>
              </a:lnSpc>
              <a:buNone/>
              <a:def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75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219450" y="4725035"/>
            <a:ext cx="704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7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高频的噪声响应信号</a:t>
            </a:r>
            <a:r>
              <a:rPr lang="zh-CN">
                <a:sym typeface="+mn-ea"/>
              </a:rPr>
              <a:t>、需要改进</a:t>
            </a:r>
            <a:r>
              <a:rPr sz="157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57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1524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7234"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B7C6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B7C6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TDAS 对比试验</a:t>
            </a:r>
            <a:endParaRPr sz="975" b="1">
              <a:solidFill>
                <a:srgbClr val="B7C6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3238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4484"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空间分辨率</a:t>
            </a: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525000" y="2857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9206"/>
          </a:bodyPr>
          <a:lstStyle/>
          <a:p>
            <a:pPr algn="r">
              <a:lnSpc>
                <a:spcPct val="112000"/>
              </a:lnSpc>
              <a:buNone/>
              <a:defRPr sz="900" b="0">
                <a:solidFill>
                  <a:srgbClr val="D7E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D7E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来源：对比试验.docx</a:t>
            </a:r>
            <a:endParaRPr sz="900" b="0">
              <a:solidFill>
                <a:srgbClr val="D7E2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514350" y="6438900"/>
            <a:ext cx="11163300" cy="0"/>
          </a:xfrm>
          <a:prstGeom prst="line">
            <a:avLst/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14350" y="65246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641"/>
          </a:bodyPr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Hz 低音量音乐响应分析</a:t>
            </a:r>
            <a:endParaRPr sz="82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239500" y="64960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128"/>
          </a:bodyPr>
          <a:lstStyle/>
          <a:p>
            <a:pPr algn="r">
              <a:lnSpc>
                <a:spcPct val="112000"/>
              </a:lnSpc>
              <a:buNone/>
              <a:def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75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91770" y="887095"/>
            <a:ext cx="9618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光谷互联自称空间分辨率，</a:t>
            </a:r>
            <a:r>
              <a:rPr lang="en-US" altLang="zh-CN"/>
              <a:t>0.5m</a:t>
            </a:r>
            <a:r>
              <a:rPr lang="zh-CN" altLang="en-US">
                <a:ea typeface="宋体" panose="02010600030101010101" pitchFamily="2" charset="-122"/>
              </a:rPr>
              <a:t>，实际</a:t>
            </a:r>
            <a:r>
              <a:rPr lang="en-US" altLang="zh-CN">
                <a:ea typeface="宋体" panose="02010600030101010101" pitchFamily="2" charset="-122"/>
              </a:rPr>
              <a:t>0.5m</a:t>
            </a:r>
            <a:r>
              <a:rPr lang="zh-CN" altLang="en-US">
                <a:ea typeface="宋体" panose="02010600030101010101" pitchFamily="2" charset="-122"/>
              </a:rPr>
              <a:t>为标距的</a:t>
            </a:r>
            <a:r>
              <a:rPr lang="zh-CN" altLang="en-US">
                <a:ea typeface="宋体" panose="02010600030101010101" pitchFamily="2" charset="-122"/>
              </a:rPr>
              <a:t>最小值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19380" y="1313180"/>
            <a:ext cx="9618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大多数的论文将该架构的设备，空间分辨率等同重频脉宽的长度，该设备最小设置为</a:t>
            </a:r>
            <a:r>
              <a:rPr lang="en-US" altLang="zh-CN">
                <a:ea typeface="宋体" panose="02010600030101010101" pitchFamily="2" charset="-122"/>
              </a:rPr>
              <a:t>10ns</a:t>
            </a:r>
            <a:r>
              <a:rPr lang="zh-CN" altLang="en-US">
                <a:ea typeface="宋体" panose="02010600030101010101" pitchFamily="2" charset="-122"/>
              </a:rPr>
              <a:t>，然而在</a:t>
            </a:r>
            <a:r>
              <a:rPr lang="en-US" altLang="zh-CN">
                <a:ea typeface="宋体" panose="02010600030101010101" pitchFamily="2" charset="-122"/>
              </a:rPr>
              <a:t>200MHZ</a:t>
            </a:r>
            <a:r>
              <a:rPr lang="zh-CN" altLang="en-US">
                <a:ea typeface="宋体" panose="02010600030101010101" pitchFamily="2" charset="-122"/>
              </a:rPr>
              <a:t>的载波，叠加到</a:t>
            </a:r>
            <a:r>
              <a:rPr lang="en-US" altLang="zh-CN">
                <a:ea typeface="宋体" panose="02010600030101010101" pitchFamily="2" charset="-122"/>
              </a:rPr>
              <a:t>10ns</a:t>
            </a:r>
            <a:r>
              <a:rPr lang="zh-CN" altLang="en-US">
                <a:ea typeface="宋体" panose="02010600030101010101" pitchFamily="2" charset="-122"/>
              </a:rPr>
              <a:t>的脉宽是不现实</a:t>
            </a:r>
            <a:r>
              <a:rPr lang="zh-CN" altLang="en-US">
                <a:ea typeface="宋体" panose="02010600030101010101" pitchFamily="2" charset="-122"/>
              </a:rPr>
              <a:t>的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70" y="1946910"/>
            <a:ext cx="7213600" cy="4068445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695960" y="6021070"/>
            <a:ext cx="5139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  <a:sym typeface="+mn-ea"/>
              </a:rPr>
              <a:t>示波器的计算方式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有关，</a:t>
            </a:r>
            <a:r>
              <a:rPr lang="zh-CN" altLang="en-US"/>
              <a:t>示波器显示脉宽为</a:t>
            </a:r>
            <a:r>
              <a:rPr lang="en-US" altLang="zh-CN"/>
              <a:t>40ns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896225" y="194691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然而根据</a:t>
            </a:r>
            <a:r>
              <a:rPr lang="zh-CN" altLang="en-US"/>
              <a:t>弱反射光栅的反馈结果</a:t>
            </a:r>
            <a:r>
              <a:rPr lang="zh-CN" altLang="en-US"/>
              <a:t>其</a:t>
            </a:r>
            <a:endParaRPr lang="zh-CN" altLang="en-US"/>
          </a:p>
          <a:p>
            <a:r>
              <a:rPr lang="zh-CN" altLang="en-US"/>
              <a:t>真实脉宽应该</a:t>
            </a:r>
            <a:r>
              <a:rPr lang="en-US" altLang="zh-CN"/>
              <a:t>25ns</a:t>
            </a:r>
            <a:r>
              <a:rPr lang="zh-CN" altLang="en-US">
                <a:ea typeface="宋体" panose="02010600030101010101" pitchFamily="2" charset="-122"/>
              </a:rPr>
              <a:t>，也就是空间分辨率从</a:t>
            </a:r>
            <a:r>
              <a:rPr lang="en-US" altLang="zh-CN">
                <a:ea typeface="宋体" panose="02010600030101010101" pitchFamily="2" charset="-122"/>
              </a:rPr>
              <a:t>2.5</a:t>
            </a:r>
            <a:r>
              <a:rPr lang="en-US" altLang="zh-CN">
                <a:ea typeface="宋体" panose="02010600030101010101" pitchFamily="2" charset="-122"/>
              </a:rPr>
              <a:t>m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1524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7234"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B7C6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B7C6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TDAS 对比试验</a:t>
            </a:r>
            <a:endParaRPr sz="975" b="1">
              <a:solidFill>
                <a:srgbClr val="B7C6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3238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54484"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空间分辨率</a:t>
            </a: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525000" y="2857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9206"/>
          </a:bodyPr>
          <a:lstStyle/>
          <a:p>
            <a:pPr algn="r">
              <a:lnSpc>
                <a:spcPct val="112000"/>
              </a:lnSpc>
              <a:buNone/>
              <a:defRPr sz="900" b="0">
                <a:solidFill>
                  <a:srgbClr val="D7E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D7E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来源：对比试验.docx</a:t>
            </a:r>
            <a:endParaRPr sz="900" b="0">
              <a:solidFill>
                <a:srgbClr val="D7E2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514350" y="6438900"/>
            <a:ext cx="11163300" cy="0"/>
          </a:xfrm>
          <a:prstGeom prst="line">
            <a:avLst/>
          </a:prstGeom>
          <a:noFill/>
          <a:ln w="9525">
            <a:solidFill>
              <a:srgbClr val="D6DDE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14350" y="65246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67641"/>
          </a:bodyPr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Hz 低音量音乐响应分析</a:t>
            </a:r>
            <a:endParaRPr sz="825" b="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239500" y="64960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80128"/>
          </a:bodyPr>
          <a:lstStyle/>
          <a:p>
            <a:pPr algn="r">
              <a:lnSpc>
                <a:spcPct val="112000"/>
              </a:lnSpc>
              <a:buNone/>
              <a:def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75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63525" y="908685"/>
            <a:ext cx="11287760" cy="1231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然而根据</a:t>
            </a:r>
            <a:r>
              <a:rPr lang="zh-CN" altLang="en-US"/>
              <a:t>弱反射光栅的反馈结果</a:t>
            </a:r>
            <a:r>
              <a:rPr lang="zh-CN" altLang="en-US"/>
              <a:t>其真实脉宽应该</a:t>
            </a:r>
            <a:r>
              <a:rPr lang="en-US" altLang="zh-CN"/>
              <a:t>25ns</a:t>
            </a:r>
            <a:r>
              <a:rPr lang="zh-CN" altLang="en-US">
                <a:ea typeface="宋体" panose="02010600030101010101" pitchFamily="2" charset="-122"/>
              </a:rPr>
              <a:t>，也就是空间分辨率从</a:t>
            </a:r>
            <a:r>
              <a:rPr lang="en-US" altLang="zh-CN">
                <a:ea typeface="宋体" panose="02010600030101010101" pitchFamily="2" charset="-122"/>
              </a:rPr>
              <a:t>2.5</a:t>
            </a:r>
            <a:r>
              <a:rPr lang="en-US" altLang="zh-CN">
                <a:ea typeface="宋体" panose="02010600030101010101" pitchFamily="2" charset="-122"/>
              </a:rPr>
              <a:t>m</a:t>
            </a: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570" y="1268730"/>
            <a:ext cx="8335645" cy="518922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4799965" y="3356610"/>
            <a:ext cx="7924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719830" y="6489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10m</a:t>
            </a:r>
            <a:r>
              <a:rPr lang="zh-CN" altLang="en-US"/>
              <a:t>间距弱</a:t>
            </a:r>
            <a:r>
              <a:rPr lang="zh-CN" altLang="en-US"/>
              <a:t>光栅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336405" y="1556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根据峰值可以看</a:t>
            </a:r>
            <a:r>
              <a:rPr lang="en-US" altLang="zh-CN"/>
              <a:t>585</a:t>
            </a:r>
            <a:r>
              <a:rPr lang="zh-CN" altLang="en-US"/>
              <a:t>到</a:t>
            </a:r>
            <a:r>
              <a:rPr lang="en-US" altLang="zh-CN"/>
              <a:t>685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9336405" y="198882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个点表示</a:t>
            </a:r>
            <a:r>
              <a:rPr lang="en-US" altLang="zh-CN"/>
              <a:t>0.1</a:t>
            </a:r>
            <a:r>
              <a:rPr lang="en-US" altLang="zh-CN"/>
              <a:t>m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而一个脉宽在</a:t>
            </a:r>
            <a:r>
              <a:rPr lang="en-US" altLang="zh-CN"/>
              <a:t>25</a:t>
            </a:r>
            <a:r>
              <a:rPr lang="zh-CN" altLang="en-US"/>
              <a:t>个点</a:t>
            </a:r>
            <a:r>
              <a:rPr lang="zh-CN" altLang="en-US"/>
              <a:t>左右</a:t>
            </a:r>
            <a:endParaRPr lang="zh-CN" altLang="en-US"/>
          </a:p>
          <a:p>
            <a:r>
              <a:rPr lang="zh-CN" altLang="en-US"/>
              <a:t>其</a:t>
            </a:r>
            <a:r>
              <a:rPr lang="zh-CN" altLang="en-US"/>
              <a:t>真实脉宽为</a:t>
            </a:r>
            <a:r>
              <a:rPr lang="en-US" altLang="zh-CN"/>
              <a:t>2.5</a:t>
            </a:r>
            <a:r>
              <a:rPr lang="en-US" altLang="zh-CN"/>
              <a:t>m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4895215" y="29248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r>
              <a:rPr lang="en-US" altLang="zh-CN"/>
              <a:t>m</a:t>
            </a:r>
            <a:endParaRPr lang="en-US" altLang="zh-CN"/>
          </a:p>
        </p:txBody>
      </p:sp>
      <p:cxnSp>
        <p:nvCxnSpPr>
          <p:cNvPr id="15" name="直接连接符 14"/>
          <p:cNvCxnSpPr/>
          <p:nvPr/>
        </p:nvCxnSpPr>
        <p:spPr>
          <a:xfrm>
            <a:off x="6168390" y="3356610"/>
            <a:ext cx="28829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952490" y="2988310"/>
            <a:ext cx="889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2.5</a:t>
            </a:r>
            <a:r>
              <a:rPr lang="en-US" altLang="zh-CN"/>
              <a:t>m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9261475" y="3789045"/>
            <a:ext cx="23590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该方法可能使得弱反光栅比普通光纤有更好的信噪比，需要进一步</a:t>
            </a:r>
            <a:r>
              <a:rPr lang="zh-CN" altLang="en-US"/>
              <a:t>研究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02640" y="3613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用该设备解调</a:t>
            </a:r>
            <a:r>
              <a:rPr lang="en-US" altLang="zh-CN"/>
              <a:t>2m</a:t>
            </a:r>
            <a:r>
              <a:rPr lang="zh-CN" altLang="en-US"/>
              <a:t>间距</a:t>
            </a:r>
            <a:r>
              <a:rPr lang="zh-CN" altLang="en-US"/>
              <a:t>光栅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" y="1412875"/>
            <a:ext cx="6807835" cy="43154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803515" y="1268095"/>
            <a:ext cx="4156710" cy="584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对于</a:t>
            </a:r>
            <a:r>
              <a:rPr lang="en-US" altLang="zh-CN"/>
              <a:t>2m</a:t>
            </a:r>
            <a:r>
              <a:rPr lang="zh-CN" altLang="en-US"/>
              <a:t>间距该算法几乎依然能准确计算其</a:t>
            </a:r>
            <a:r>
              <a:rPr lang="zh-CN" altLang="en-US"/>
              <a:t>位置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824470" y="206057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但是其不同光栅的反射光发生了</a:t>
            </a:r>
            <a:r>
              <a:rPr lang="zh-CN" altLang="en-US"/>
              <a:t>混叠</a:t>
            </a:r>
            <a:endParaRPr lang="zh-CN" altLang="en-US"/>
          </a:p>
          <a:p>
            <a:r>
              <a:rPr lang="zh-CN" altLang="en-US"/>
              <a:t>导致其信噪比</a:t>
            </a:r>
            <a:r>
              <a:rPr lang="zh-CN" altLang="en-US"/>
              <a:t>下降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2260</Words>
  <Application>WPS 演示</Application>
  <PresentationFormat>Converted Presentation</PresentationFormat>
  <Paragraphs>271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</cp:lastModifiedBy>
  <cp:revision>5</cp:revision>
  <dcterms:created xsi:type="dcterms:W3CDTF">2026-06-18T08:57:00Z</dcterms:created>
  <dcterms:modified xsi:type="dcterms:W3CDTF">2026-06-18T09:13:27Z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316A67C13B774D39860545CC7004AC1F_12</vt:lpwstr>
  </property>
</Properties>
</file>